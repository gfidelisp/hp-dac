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6" r:id="rId1"/>
  </p:sldMasterIdLst>
  <p:notesMasterIdLst>
    <p:notesMasterId r:id="rId4"/>
  </p:notesMasterIdLst>
  <p:sldIdLst>
    <p:sldId id="257" r:id="rId2"/>
    <p:sldId id="258" r:id="rId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8" d="100"/>
          <a:sy n="158" d="100"/>
        </p:scale>
        <p:origin x="264" y="14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600323968e_6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2" name="Google Shape;142;g600323968e_6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600323968e_6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2" name="Google Shape;142;g600323968e_6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497648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" name="Google Shape;144;p32"/>
          <p:cNvGrpSpPr/>
          <p:nvPr/>
        </p:nvGrpSpPr>
        <p:grpSpPr>
          <a:xfrm>
            <a:off x="35775" y="-25250"/>
            <a:ext cx="9148200" cy="5097700"/>
            <a:chOff x="-2100" y="0"/>
            <a:chExt cx="9148200" cy="5097700"/>
          </a:xfrm>
        </p:grpSpPr>
        <p:sp>
          <p:nvSpPr>
            <p:cNvPr id="145" name="Google Shape;145;p32"/>
            <p:cNvSpPr/>
            <p:nvPr/>
          </p:nvSpPr>
          <p:spPr>
            <a:xfrm>
              <a:off x="30050" y="73350"/>
              <a:ext cx="4411200" cy="5421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pt-BR" sz="1000" b="1" i="0" u="none" strike="noStrike" cap="none" dirty="0">
                  <a:solidFill>
                    <a:srgbClr val="1E4E79"/>
                  </a:solidFill>
                  <a:highlight>
                    <a:srgbClr val="FFFFFF"/>
                  </a:highlight>
                  <a:latin typeface="Times New Roman"/>
                  <a:ea typeface="Times New Roman"/>
                  <a:cs typeface="Times New Roman"/>
                  <a:sym typeface="Times New Roman"/>
                </a:rPr>
                <a:t>1. FOLLOW-UP - OWNER</a:t>
              </a:r>
              <a:endParaRPr dirty="0">
                <a:highlight>
                  <a:srgbClr val="FFFFFF"/>
                </a:highlight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700"/>
                <a:buFont typeface="Arial"/>
                <a:buNone/>
              </a:pPr>
              <a:r>
                <a:rPr lang="pt-BR" sz="700" i="1" dirty="0">
                  <a:solidFill>
                    <a:schemeClr val="dk1"/>
                  </a:solidFill>
                  <a:highlight>
                    <a:srgbClr val="FFFFFF"/>
                  </a:highlight>
                  <a:latin typeface="Times New Roman"/>
                  <a:ea typeface="Times New Roman"/>
                  <a:cs typeface="Times New Roman"/>
                  <a:sym typeface="Times New Roman"/>
                </a:rPr>
                <a:t>DD/NN/AAAA - DD/MM/AAAA</a:t>
              </a:r>
              <a:endParaRPr dirty="0"/>
            </a:p>
          </p:txBody>
        </p:sp>
        <p:sp>
          <p:nvSpPr>
            <p:cNvPr id="146" name="Google Shape;146;p32"/>
            <p:cNvSpPr/>
            <p:nvPr/>
          </p:nvSpPr>
          <p:spPr>
            <a:xfrm>
              <a:off x="30050" y="658825"/>
              <a:ext cx="4411200" cy="768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0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"/>
                <a:buFont typeface="Arial"/>
                <a:buNone/>
              </a:pPr>
              <a:endParaRPr sz="200" b="1" i="0" u="none" strike="noStrike" cap="none" dirty="0">
                <a:solidFill>
                  <a:srgbClr val="1E4E7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pt-BR" sz="900" b="1" i="0" u="none" strike="noStrike" cap="none" dirty="0">
                  <a:solidFill>
                    <a:srgbClr val="1E4E79"/>
                  </a:solidFill>
                  <a:highlight>
                    <a:srgbClr val="FFFFFF"/>
                  </a:highlight>
                  <a:latin typeface="Times New Roman"/>
                  <a:ea typeface="Times New Roman"/>
                  <a:cs typeface="Times New Roman"/>
                  <a:sym typeface="Times New Roman"/>
                </a:rPr>
                <a:t>OBJECTIVE</a:t>
              </a:r>
              <a:r>
                <a:rPr lang="pt-BR" sz="900" b="0" i="0" u="none" strike="noStrike" cap="none" dirty="0">
                  <a:solidFill>
                    <a:srgbClr val="000000"/>
                  </a:solidFill>
                  <a:highlight>
                    <a:srgbClr val="FFFFFF"/>
                  </a:highlight>
                  <a:latin typeface="Times New Roman"/>
                  <a:ea typeface="Times New Roman"/>
                  <a:cs typeface="Times New Roman"/>
                  <a:sym typeface="Times New Roman"/>
                </a:rPr>
                <a:t> |  </a:t>
              </a:r>
              <a:r>
                <a:rPr lang="en-US" sz="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Answers: </a:t>
              </a:r>
              <a:r>
                <a:rPr lang="en-US" sz="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what this cycle is for.</a:t>
              </a:r>
            </a:p>
            <a:p>
              <a: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</a:pPr>
              <a:r>
                <a:rPr lang="en-US" sz="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Written and unchanged for all six weekly slides. One sentence, stating an outcome with a condition that can be checked, not an activity:</a:t>
              </a:r>
            </a:p>
            <a:p>
              <a:pPr marL="171450" marR="0" lvl="0" indent="-1714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 panose="020B0604020202020204" pitchFamily="34" charset="0"/>
                <a:buChar char="•"/>
              </a:pPr>
              <a:r>
                <a:rPr lang="en-US" sz="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Deliver a steady-state model of the commercial heat pump that reproduces the measured COP within ±10% over a sink temperature of 60 to 95 °C.</a:t>
              </a:r>
              <a:endParaRPr sz="800" i="1" dirty="0">
                <a:solidFill>
                  <a:schemeClr val="dk1"/>
                </a:solidFill>
                <a:highlight>
                  <a:schemeClr val="lt1"/>
                </a:highlight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endParaRPr>
            </a:p>
            <a:p>
              <a:pPr marL="45720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800" b="0" i="0" u="none" strike="noStrike" cap="none" dirty="0">
                  <a:solidFill>
                    <a:schemeClr val="dk1"/>
                  </a:solidFill>
                  <a:highlight>
                    <a:schemeClr val="lt1"/>
                  </a:highlight>
                  <a:latin typeface="Times New Roman" panose="02020603050405020304" pitchFamily="18" charset="0"/>
                  <a:ea typeface="Times New Roman"/>
                  <a:cs typeface="Times New Roman" panose="02020603050405020304" pitchFamily="18" charset="0"/>
                  <a:sym typeface="Times New Roman"/>
                </a:rPr>
                <a:t> </a:t>
              </a:r>
              <a:endParaRPr sz="800" b="0" i="0" u="none" strike="noStrike" cap="none" dirty="0">
                <a:solidFill>
                  <a:schemeClr val="dk1"/>
                </a:solidFill>
                <a:highlight>
                  <a:schemeClr val="lt1"/>
                </a:highlight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endParaRPr>
            </a:p>
          </p:txBody>
        </p:sp>
        <p:cxnSp>
          <p:nvCxnSpPr>
            <p:cNvPr id="147" name="Google Shape;147;p32"/>
            <p:cNvCxnSpPr/>
            <p:nvPr/>
          </p:nvCxnSpPr>
          <p:spPr>
            <a:xfrm>
              <a:off x="4502950" y="0"/>
              <a:ext cx="12000" cy="39219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48" name="Google Shape;148;p32"/>
            <p:cNvSpPr/>
            <p:nvPr/>
          </p:nvSpPr>
          <p:spPr>
            <a:xfrm>
              <a:off x="4572000" y="73350"/>
              <a:ext cx="4510500" cy="37974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pt-BR" sz="900" b="1" i="0" u="none" strike="noStrike" cap="none" dirty="0">
                  <a:solidFill>
                    <a:srgbClr val="1E4E79"/>
                  </a:solidFill>
                  <a:highlight>
                    <a:srgbClr val="FFFFFF"/>
                  </a:highlight>
                  <a:latin typeface="Times New Roman"/>
                  <a:ea typeface="Times New Roman"/>
                  <a:cs typeface="Times New Roman"/>
                  <a:sym typeface="Times New Roman"/>
                </a:rPr>
                <a:t>RESULTS</a:t>
              </a:r>
              <a:r>
                <a:rPr lang="pt-BR" sz="900" b="0" i="0" u="none" strike="noStrike" cap="none" dirty="0">
                  <a:solidFill>
                    <a:srgbClr val="000000"/>
                  </a:solidFill>
                  <a:highlight>
                    <a:srgbClr val="FFFFFF"/>
                  </a:highlight>
                  <a:latin typeface="Times New Roman"/>
                  <a:ea typeface="Times New Roman"/>
                  <a:cs typeface="Times New Roman"/>
                  <a:sym typeface="Times New Roman"/>
                </a:rPr>
                <a:t> | </a:t>
              </a:r>
              <a:r>
                <a:rPr lang="en-US" sz="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Answers:</a:t>
              </a:r>
              <a:r>
                <a:rPr lang="en-US" sz="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what do we now know that we didn't last week.</a:t>
              </a:r>
              <a:endParaRPr sz="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800" dirty="0">
                <a:highlight>
                  <a:srgbClr val="FFFFFF"/>
                </a:highlight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Evidence, not activity. Data, not narrative</a:t>
              </a:r>
              <a:r>
                <a:rPr lang="en-US" sz="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en-US" sz="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Figures, tables, and sentences saying what it shows. </a:t>
              </a:r>
              <a:endParaRPr sz="800" dirty="0">
                <a:highlight>
                  <a:srgbClr val="FFFFFF"/>
                </a:highlight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endParaRPr>
            </a:p>
            <a:p>
              <a:pPr marL="45720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dirty="0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228600" marR="0" lvl="0" indent="-1714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 dirty="0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9" name="Google Shape;149;p32"/>
            <p:cNvSpPr/>
            <p:nvPr/>
          </p:nvSpPr>
          <p:spPr>
            <a:xfrm>
              <a:off x="4514950" y="3962500"/>
              <a:ext cx="4574100" cy="11352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0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"/>
                <a:buFont typeface="Arial"/>
                <a:buNone/>
              </a:pPr>
              <a:endParaRPr sz="200" b="1" i="0" u="none" strike="noStrike" cap="none" dirty="0">
                <a:solidFill>
                  <a:srgbClr val="1E4E7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pt-BR" sz="900" b="1" i="0" u="none" strike="noStrike" cap="none" dirty="0">
                  <a:solidFill>
                    <a:srgbClr val="1E4E79"/>
                  </a:solidFill>
                  <a:highlight>
                    <a:srgbClr val="FFFFFF"/>
                  </a:highlight>
                  <a:latin typeface="Times New Roman"/>
                  <a:ea typeface="Times New Roman"/>
                  <a:cs typeface="Times New Roman"/>
                  <a:sym typeface="Times New Roman"/>
                </a:rPr>
                <a:t>NEXT STEPS</a:t>
              </a:r>
              <a:r>
                <a:rPr lang="pt-BR" sz="900" b="0" i="0" u="none" strike="noStrike" cap="none" dirty="0">
                  <a:solidFill>
                    <a:srgbClr val="000000"/>
                  </a:solidFill>
                  <a:highlight>
                    <a:srgbClr val="FFFFFF"/>
                  </a:highlight>
                  <a:latin typeface="Times New Roman"/>
                  <a:ea typeface="Times New Roman"/>
                  <a:cs typeface="Times New Roman"/>
                  <a:sym typeface="Times New Roman"/>
                </a:rPr>
                <a:t>| </a:t>
              </a:r>
              <a:r>
                <a:rPr lang="en-US" sz="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Answers:</a:t>
              </a:r>
              <a:r>
                <a:rPr lang="en-US" sz="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what will be true at the next meeting.</a:t>
              </a:r>
              <a:endParaRPr lang="en-US" sz="8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lang="en-US" sz="800" b="0" i="0" u="none" strike="noStrike" cap="none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Two passes: Before the meeting, the owner drafts their proposed steps. During the meeting, team feedback is added to the same block. The post-meeting version is the record. </a:t>
              </a:r>
              <a:endParaRPr sz="800" b="0" i="0" u="none" strike="noStrike" cap="none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endParaRPr>
            </a:p>
          </p:txBody>
        </p:sp>
        <p:sp>
          <p:nvSpPr>
            <p:cNvPr id="150" name="Google Shape;150;p32"/>
            <p:cNvSpPr/>
            <p:nvPr/>
          </p:nvSpPr>
          <p:spPr>
            <a:xfrm>
              <a:off x="30050" y="1490225"/>
              <a:ext cx="4411200" cy="23805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0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"/>
                <a:buFont typeface="Arial"/>
                <a:buNone/>
              </a:pPr>
              <a:endParaRPr sz="200" b="1" i="0" u="none" strike="noStrike" cap="none" dirty="0">
                <a:solidFill>
                  <a:srgbClr val="1E4E7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pt-BR" sz="900" b="1" i="0" u="none" strike="noStrike" cap="none" dirty="0">
                  <a:solidFill>
                    <a:srgbClr val="1E4E79"/>
                  </a:solidFill>
                  <a:highlight>
                    <a:srgbClr val="FFFFFF"/>
                  </a:highlight>
                  <a:latin typeface="Times New Roman"/>
                  <a:ea typeface="Times New Roman"/>
                  <a:cs typeface="Times New Roman"/>
                  <a:sym typeface="Times New Roman"/>
                </a:rPr>
                <a:t>ACTIVITIES</a:t>
              </a:r>
              <a:r>
                <a:rPr lang="pt-BR" sz="900" b="0" i="0" u="none" strike="noStrike" cap="none" dirty="0">
                  <a:solidFill>
                    <a:srgbClr val="000000"/>
                  </a:solidFill>
                  <a:highlight>
                    <a:srgbClr val="FFFFFF"/>
                  </a:highlight>
                  <a:latin typeface="Times New Roman"/>
                  <a:ea typeface="Times New Roman"/>
                  <a:cs typeface="Times New Roman"/>
                  <a:sym typeface="Times New Roman"/>
                </a:rPr>
                <a:t>| </a:t>
              </a:r>
              <a:r>
                <a:rPr lang="en-US" sz="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Answers: </a:t>
              </a:r>
              <a:r>
                <a:rPr lang="en-US" sz="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what we agreed to do, and where each item stands.</a:t>
              </a: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lang="en-US" sz="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The cycle's activity list, fixed at kickoff, three to six items. Separated into 3 categories: done (light gray in strikethrough), in progress (black), and planned (light gray). Start with verbs in infinitive/imperative (Commission, Validate, Quantify, Fit, Measure, Select, Decide, Document)</a:t>
              </a: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lang="en-US" sz="800" i="0" u="none" strike="noStrike" cap="none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endParaRPr>
            </a:p>
            <a:p>
              <a:pPr marL="228600" marR="0" lvl="0" indent="-2286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+mj-lt"/>
                <a:buAutoNum type="arabicPeriod"/>
              </a:pPr>
              <a:r>
                <a:rPr lang="en-US" sz="800" i="1" strike="sngStrike" dirty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Fit compressor performance map to manufacturer data</a:t>
              </a:r>
            </a:p>
            <a:p>
              <a:pPr marL="228600" marR="0" lvl="0" indent="-2286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+mj-lt"/>
                <a:buAutoNum type="arabicPeriod"/>
              </a:pPr>
              <a:r>
                <a:rPr lang="en-US" sz="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Commission heat pump on DAC 15TA</a:t>
              </a:r>
            </a:p>
            <a:p>
              <a:pPr marL="228600" marR="0" lvl="0" indent="-2286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+mj-lt"/>
                <a:buAutoNum type="arabicPeriod"/>
              </a:pPr>
              <a:r>
                <a:rPr lang="en-US" sz="800" i="1" dirty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Validate steady-state model against 60–80 °C tests</a:t>
              </a:r>
              <a:endParaRPr sz="800" i="1" u="none" strike="noStrike" cap="none" dirty="0">
                <a:solidFill>
                  <a:schemeClr val="bg1">
                    <a:lumMod val="50000"/>
                  </a:schemeClr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endParaRPr>
            </a:p>
            <a:p>
              <a:pPr marL="457200" marR="0" lvl="0" indent="-28575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00"/>
                <a:buFont typeface="Times New Roman"/>
                <a:buAutoNum type="arabicPeriod"/>
              </a:pPr>
              <a:endParaRPr sz="900" dirty="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45720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dirty="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900" b="0" i="0" u="none" strike="noStrike" cap="none" dirty="0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1" name="Google Shape;151;p32"/>
            <p:cNvSpPr/>
            <p:nvPr/>
          </p:nvSpPr>
          <p:spPr>
            <a:xfrm>
              <a:off x="25550" y="3962500"/>
              <a:ext cx="4477500" cy="11352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0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"/>
                <a:buFont typeface="Arial"/>
                <a:buNone/>
              </a:pPr>
              <a:endParaRPr sz="200" b="1" i="0" u="none" strike="noStrike" cap="none" dirty="0">
                <a:solidFill>
                  <a:srgbClr val="1E4E7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pt-BR" sz="900" b="1" i="0" u="none" strike="noStrike" cap="none" dirty="0">
                  <a:solidFill>
                    <a:srgbClr val="1E4E79"/>
                  </a:solidFill>
                  <a:highlight>
                    <a:srgbClr val="FFFFFF"/>
                  </a:highlight>
                  <a:latin typeface="Times New Roman"/>
                  <a:ea typeface="Times New Roman"/>
                  <a:cs typeface="Times New Roman"/>
                  <a:sym typeface="Times New Roman"/>
                </a:rPr>
                <a:t>OBSTACLES </a:t>
              </a:r>
              <a:r>
                <a:rPr lang="pt-BR" sz="900" b="0" i="0" u="none" strike="noStrike" cap="none" dirty="0">
                  <a:solidFill>
                    <a:srgbClr val="000000"/>
                  </a:solidFill>
                  <a:highlight>
                    <a:srgbClr val="FFFFFF"/>
                  </a:highlight>
                  <a:latin typeface="Times New Roman"/>
                  <a:ea typeface="Times New Roman"/>
                  <a:cs typeface="Times New Roman"/>
                  <a:sym typeface="Times New Roman"/>
                </a:rPr>
                <a:t>| </a:t>
              </a:r>
              <a:r>
                <a:rPr lang="en-US" sz="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Answers:</a:t>
              </a:r>
              <a:r>
                <a:rPr lang="en-US" sz="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what is in the way to meet the objective.</a:t>
              </a:r>
              <a:endParaRPr lang="pt-BR" sz="8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lang="pt-BR" sz="800" b="0" i="0" u="none" strike="noStrike" cap="none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endParaRPr>
            </a:p>
            <a:p>
              <a:pPr marL="228600" marR="0" lvl="0" indent="-2286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+mj-lt"/>
                <a:buAutoNum type="arabicPeriod"/>
              </a:pPr>
              <a:r>
                <a:rPr lang="en-US" sz="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Manufacturer data covers only 35–75 °C condensing, leaving the 85–120 °C range needed for DAC unsupported by any fit</a:t>
              </a:r>
            </a:p>
            <a:p>
              <a:pPr marL="228600" marR="0" lvl="0" indent="-2286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+mj-lt"/>
                <a:buAutoNum type="arabicPeriod"/>
              </a:pPr>
              <a:r>
                <a:rPr lang="en-US" sz="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Heat pump delivery to PUCRS slipped to 15/09</a:t>
              </a:r>
            </a:p>
            <a:p>
              <a:pPr marL="228600" marR="0" lvl="0" indent="-2286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+mj-lt"/>
                <a:buAutoNum type="arabicPeriod"/>
              </a:pPr>
              <a:r>
                <a:rPr lang="en-US" sz="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Validation cannot start until the heat pump is commissioned</a:t>
              </a: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800" b="0" i="0" u="none" strike="noStrike" cap="none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endParaRPr>
            </a:p>
          </p:txBody>
        </p:sp>
        <p:cxnSp>
          <p:nvCxnSpPr>
            <p:cNvPr id="152" name="Google Shape;152;p32"/>
            <p:cNvCxnSpPr/>
            <p:nvPr/>
          </p:nvCxnSpPr>
          <p:spPr>
            <a:xfrm>
              <a:off x="-2100" y="3911975"/>
              <a:ext cx="9148200" cy="93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153" name="Google Shape;153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68659" y="71051"/>
            <a:ext cx="607416" cy="3592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" name="Google Shape;144;p32"/>
          <p:cNvGrpSpPr/>
          <p:nvPr/>
        </p:nvGrpSpPr>
        <p:grpSpPr>
          <a:xfrm>
            <a:off x="35775" y="-25250"/>
            <a:ext cx="9148200" cy="5097700"/>
            <a:chOff x="-2100" y="0"/>
            <a:chExt cx="9148200" cy="5097700"/>
          </a:xfrm>
        </p:grpSpPr>
        <p:sp>
          <p:nvSpPr>
            <p:cNvPr id="145" name="Google Shape;145;p32"/>
            <p:cNvSpPr/>
            <p:nvPr/>
          </p:nvSpPr>
          <p:spPr>
            <a:xfrm>
              <a:off x="30050" y="73350"/>
              <a:ext cx="4411200" cy="5421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pt-BR" sz="1000" b="1" i="0" u="none" strike="noStrike" cap="none" dirty="0">
                  <a:solidFill>
                    <a:srgbClr val="1E4E79"/>
                  </a:solidFill>
                  <a:highlight>
                    <a:srgbClr val="FFFFFF"/>
                  </a:highlight>
                  <a:latin typeface="Times New Roman"/>
                  <a:ea typeface="Times New Roman"/>
                  <a:cs typeface="Times New Roman"/>
                  <a:sym typeface="Times New Roman"/>
                </a:rPr>
                <a:t>1. FOLLOW-UP - OWNER</a:t>
              </a:r>
              <a:endParaRPr dirty="0">
                <a:highlight>
                  <a:srgbClr val="FFFFFF"/>
                </a:highlight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700"/>
                <a:buFont typeface="Arial"/>
                <a:buNone/>
              </a:pPr>
              <a:r>
                <a:rPr lang="pt-BR" sz="700" i="1" dirty="0">
                  <a:solidFill>
                    <a:schemeClr val="dk1"/>
                  </a:solidFill>
                  <a:highlight>
                    <a:srgbClr val="FFFFFF"/>
                  </a:highlight>
                  <a:latin typeface="Times New Roman"/>
                  <a:ea typeface="Times New Roman"/>
                  <a:cs typeface="Times New Roman"/>
                  <a:sym typeface="Times New Roman"/>
                </a:rPr>
                <a:t>DD/NN/AAAA - DD/MM/AAAA</a:t>
              </a:r>
              <a:endParaRPr dirty="0"/>
            </a:p>
          </p:txBody>
        </p:sp>
        <p:sp>
          <p:nvSpPr>
            <p:cNvPr id="146" name="Google Shape;146;p32"/>
            <p:cNvSpPr/>
            <p:nvPr/>
          </p:nvSpPr>
          <p:spPr>
            <a:xfrm>
              <a:off x="30050" y="658825"/>
              <a:ext cx="4411200" cy="768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0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"/>
                <a:buFont typeface="Arial"/>
                <a:buNone/>
              </a:pPr>
              <a:endParaRPr sz="200" b="1" i="0" u="none" strike="noStrike" cap="none" dirty="0">
                <a:solidFill>
                  <a:srgbClr val="1E4E7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pt-BR" sz="900" b="1" i="0" u="none" strike="noStrike" cap="none" dirty="0">
                  <a:solidFill>
                    <a:srgbClr val="1E4E79"/>
                  </a:solidFill>
                  <a:highlight>
                    <a:srgbClr val="FFFFFF"/>
                  </a:highlight>
                  <a:latin typeface="Times New Roman"/>
                  <a:ea typeface="Times New Roman"/>
                  <a:cs typeface="Times New Roman"/>
                  <a:sym typeface="Times New Roman"/>
                </a:rPr>
                <a:t>OBJECTIVE</a:t>
              </a:r>
              <a:r>
                <a:rPr lang="pt-BR" sz="900" b="0" i="0" u="none" strike="noStrike" cap="none" dirty="0">
                  <a:solidFill>
                    <a:srgbClr val="000000"/>
                  </a:solidFill>
                  <a:highlight>
                    <a:srgbClr val="FFFFFF"/>
                  </a:highlight>
                  <a:latin typeface="Times New Roman"/>
                  <a:ea typeface="Times New Roman"/>
                  <a:cs typeface="Times New Roman"/>
                  <a:sym typeface="Times New Roman"/>
                </a:rPr>
                <a:t> |  </a:t>
              </a:r>
              <a:r>
                <a:rPr lang="en-US" sz="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Answers: </a:t>
              </a:r>
              <a:r>
                <a:rPr lang="en-US" sz="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what this cycle is for.</a:t>
              </a:r>
            </a:p>
            <a:p>
              <a:pPr marL="45720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800" b="0" i="0" u="none" strike="noStrike" cap="none" dirty="0">
                  <a:solidFill>
                    <a:schemeClr val="dk1"/>
                  </a:solidFill>
                  <a:highlight>
                    <a:schemeClr val="lt1"/>
                  </a:highlight>
                  <a:latin typeface="Times New Roman" panose="02020603050405020304" pitchFamily="18" charset="0"/>
                  <a:ea typeface="Times New Roman"/>
                  <a:cs typeface="Times New Roman" panose="02020603050405020304" pitchFamily="18" charset="0"/>
                  <a:sym typeface="Times New Roman"/>
                </a:rPr>
                <a:t> </a:t>
              </a:r>
              <a:endParaRPr sz="800" b="0" i="0" u="none" strike="noStrike" cap="none" dirty="0">
                <a:solidFill>
                  <a:schemeClr val="dk1"/>
                </a:solidFill>
                <a:highlight>
                  <a:schemeClr val="lt1"/>
                </a:highlight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endParaRPr>
            </a:p>
          </p:txBody>
        </p:sp>
        <p:cxnSp>
          <p:nvCxnSpPr>
            <p:cNvPr id="147" name="Google Shape;147;p32"/>
            <p:cNvCxnSpPr/>
            <p:nvPr/>
          </p:nvCxnSpPr>
          <p:spPr>
            <a:xfrm>
              <a:off x="4502950" y="0"/>
              <a:ext cx="12000" cy="39219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48" name="Google Shape;148;p32"/>
            <p:cNvSpPr/>
            <p:nvPr/>
          </p:nvSpPr>
          <p:spPr>
            <a:xfrm>
              <a:off x="4572000" y="73350"/>
              <a:ext cx="4510500" cy="37974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pt-BR" sz="900" b="1" i="0" u="none" strike="noStrike" cap="none" dirty="0">
                  <a:solidFill>
                    <a:srgbClr val="1E4E79"/>
                  </a:solidFill>
                  <a:highlight>
                    <a:srgbClr val="FFFFFF"/>
                  </a:highlight>
                  <a:latin typeface="Times New Roman"/>
                  <a:ea typeface="Times New Roman"/>
                  <a:cs typeface="Times New Roman"/>
                  <a:sym typeface="Times New Roman"/>
                </a:rPr>
                <a:t>RESULTS</a:t>
              </a:r>
              <a:r>
                <a:rPr lang="pt-BR" sz="900" b="0" i="0" u="none" strike="noStrike" cap="none" dirty="0">
                  <a:solidFill>
                    <a:srgbClr val="000000"/>
                  </a:solidFill>
                  <a:highlight>
                    <a:srgbClr val="FFFFFF"/>
                  </a:highlight>
                  <a:latin typeface="Times New Roman"/>
                  <a:ea typeface="Times New Roman"/>
                  <a:cs typeface="Times New Roman"/>
                  <a:sym typeface="Times New Roman"/>
                </a:rPr>
                <a:t> | </a:t>
              </a:r>
              <a:r>
                <a:rPr lang="en-US" sz="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Answers:</a:t>
              </a:r>
              <a:r>
                <a:rPr lang="en-US" sz="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what do we now know that we didn't last week.</a:t>
              </a:r>
              <a:endParaRPr sz="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800" dirty="0">
                <a:highlight>
                  <a:srgbClr val="FFFFFF"/>
                </a:highlight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endParaRPr>
            </a:p>
          </p:txBody>
        </p:sp>
        <p:sp>
          <p:nvSpPr>
            <p:cNvPr id="149" name="Google Shape;149;p32"/>
            <p:cNvSpPr/>
            <p:nvPr/>
          </p:nvSpPr>
          <p:spPr>
            <a:xfrm>
              <a:off x="4514950" y="3962500"/>
              <a:ext cx="4574100" cy="11352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0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"/>
                <a:buFont typeface="Arial"/>
                <a:buNone/>
              </a:pPr>
              <a:endParaRPr sz="200" b="1" i="0" u="none" strike="noStrike" cap="none" dirty="0">
                <a:solidFill>
                  <a:srgbClr val="1E4E7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pt-BR" sz="900" b="1" i="0" u="none" strike="noStrike" cap="none" dirty="0">
                  <a:solidFill>
                    <a:srgbClr val="1E4E79"/>
                  </a:solidFill>
                  <a:highlight>
                    <a:srgbClr val="FFFFFF"/>
                  </a:highlight>
                  <a:latin typeface="Times New Roman"/>
                  <a:ea typeface="Times New Roman"/>
                  <a:cs typeface="Times New Roman"/>
                  <a:sym typeface="Times New Roman"/>
                </a:rPr>
                <a:t>NEXT STEPS</a:t>
              </a:r>
              <a:r>
                <a:rPr lang="pt-BR" sz="900" b="0" i="0" u="none" strike="noStrike" cap="none" dirty="0">
                  <a:solidFill>
                    <a:srgbClr val="000000"/>
                  </a:solidFill>
                  <a:highlight>
                    <a:srgbClr val="FFFFFF"/>
                  </a:highlight>
                  <a:latin typeface="Times New Roman"/>
                  <a:ea typeface="Times New Roman"/>
                  <a:cs typeface="Times New Roman"/>
                  <a:sym typeface="Times New Roman"/>
                </a:rPr>
                <a:t>| </a:t>
              </a:r>
              <a:r>
                <a:rPr lang="en-US" sz="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Answers:</a:t>
              </a:r>
              <a:r>
                <a:rPr lang="en-US" sz="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what will be true at the next meeting.</a:t>
              </a:r>
              <a:endParaRPr lang="en-US" sz="8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lang="en-US" sz="800" b="0" i="0" u="none" strike="noStrike" cap="none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endParaRPr>
            </a:p>
          </p:txBody>
        </p:sp>
        <p:sp>
          <p:nvSpPr>
            <p:cNvPr id="150" name="Google Shape;150;p32"/>
            <p:cNvSpPr/>
            <p:nvPr/>
          </p:nvSpPr>
          <p:spPr>
            <a:xfrm>
              <a:off x="30050" y="1490225"/>
              <a:ext cx="4411200" cy="23805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0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"/>
                <a:buFont typeface="Arial"/>
                <a:buNone/>
              </a:pPr>
              <a:endParaRPr sz="200" b="1" i="0" u="none" strike="noStrike" cap="none" dirty="0">
                <a:solidFill>
                  <a:srgbClr val="1E4E7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pt-BR" sz="900" b="1" i="0" u="none" strike="noStrike" cap="none" dirty="0">
                  <a:solidFill>
                    <a:srgbClr val="1E4E79"/>
                  </a:solidFill>
                  <a:highlight>
                    <a:srgbClr val="FFFFFF"/>
                  </a:highlight>
                  <a:latin typeface="Times New Roman"/>
                  <a:ea typeface="Times New Roman"/>
                  <a:cs typeface="Times New Roman"/>
                  <a:sym typeface="Times New Roman"/>
                </a:rPr>
                <a:t>ACTIVITIES</a:t>
              </a:r>
              <a:r>
                <a:rPr lang="pt-BR" sz="900" b="0" i="0" u="none" strike="noStrike" cap="none" dirty="0">
                  <a:solidFill>
                    <a:srgbClr val="000000"/>
                  </a:solidFill>
                  <a:highlight>
                    <a:srgbClr val="FFFFFF"/>
                  </a:highlight>
                  <a:latin typeface="Times New Roman"/>
                  <a:ea typeface="Times New Roman"/>
                  <a:cs typeface="Times New Roman"/>
                  <a:sym typeface="Times New Roman"/>
                </a:rPr>
                <a:t>| </a:t>
              </a:r>
              <a:r>
                <a:rPr lang="en-US" sz="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Answers: </a:t>
              </a:r>
              <a:r>
                <a:rPr lang="en-US" sz="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what we agreed to do, and where each item stands.</a:t>
              </a: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lang="en-US" sz="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457200" marR="0" lvl="0" indent="-28575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00"/>
                <a:buFont typeface="Times New Roman"/>
                <a:buAutoNum type="arabicPeriod"/>
              </a:pPr>
              <a:endParaRPr sz="900" dirty="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45720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dirty="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900" b="0" i="0" u="none" strike="noStrike" cap="none" dirty="0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1" name="Google Shape;151;p32"/>
            <p:cNvSpPr/>
            <p:nvPr/>
          </p:nvSpPr>
          <p:spPr>
            <a:xfrm>
              <a:off x="25550" y="3962500"/>
              <a:ext cx="4477500" cy="11352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0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"/>
                <a:buFont typeface="Arial"/>
                <a:buNone/>
              </a:pPr>
              <a:endParaRPr sz="200" b="1" i="0" u="none" strike="noStrike" cap="none" dirty="0">
                <a:solidFill>
                  <a:srgbClr val="1E4E7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pt-BR" sz="900" b="1" i="0" u="none" strike="noStrike" cap="none" dirty="0">
                  <a:solidFill>
                    <a:srgbClr val="1E4E79"/>
                  </a:solidFill>
                  <a:highlight>
                    <a:srgbClr val="FFFFFF"/>
                  </a:highlight>
                  <a:latin typeface="Times New Roman"/>
                  <a:ea typeface="Times New Roman"/>
                  <a:cs typeface="Times New Roman"/>
                  <a:sym typeface="Times New Roman"/>
                </a:rPr>
                <a:t>OBSTACLES </a:t>
              </a:r>
              <a:r>
                <a:rPr lang="pt-BR" sz="900" b="0" i="0" u="none" strike="noStrike" cap="none" dirty="0">
                  <a:solidFill>
                    <a:srgbClr val="000000"/>
                  </a:solidFill>
                  <a:highlight>
                    <a:srgbClr val="FFFFFF"/>
                  </a:highlight>
                  <a:latin typeface="Times New Roman"/>
                  <a:ea typeface="Times New Roman"/>
                  <a:cs typeface="Times New Roman"/>
                  <a:sym typeface="Times New Roman"/>
                </a:rPr>
                <a:t>| </a:t>
              </a:r>
              <a:r>
                <a:rPr lang="en-US" sz="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Answers:</a:t>
              </a:r>
              <a:r>
                <a:rPr lang="en-US" sz="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what is in the way to meet the objective.</a:t>
              </a:r>
              <a:endParaRPr lang="pt-BR" sz="8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lang="pt-BR" sz="800" b="0" i="0" u="none" strike="noStrike" cap="none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800" b="0" i="0" u="none" strike="noStrike" cap="none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endParaRPr>
            </a:p>
          </p:txBody>
        </p:sp>
        <p:cxnSp>
          <p:nvCxnSpPr>
            <p:cNvPr id="152" name="Google Shape;152;p32"/>
            <p:cNvCxnSpPr/>
            <p:nvPr/>
          </p:nvCxnSpPr>
          <p:spPr>
            <a:xfrm>
              <a:off x="-2100" y="3911975"/>
              <a:ext cx="9148200" cy="93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153" name="Google Shape;153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68659" y="71051"/>
            <a:ext cx="607416" cy="35925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8418340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404</Words>
  <Application>Microsoft Office PowerPoint</Application>
  <PresentationFormat>On-screen Show (16:9)</PresentationFormat>
  <Paragraphs>43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Times New Roman</vt:lpstr>
      <vt:lpstr>Simple Light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Guilherme</dc:creator>
  <cp:lastModifiedBy>guilherme</cp:lastModifiedBy>
  <cp:revision>6</cp:revision>
  <dcterms:modified xsi:type="dcterms:W3CDTF">2026-07-23T19:44:51Z</dcterms:modified>
</cp:coreProperties>
</file>