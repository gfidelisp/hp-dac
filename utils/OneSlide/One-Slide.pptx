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6" r:id="rId1"/>
  </p:sldMasterIdLst>
  <p:notesMasterIdLst>
    <p:notesMasterId r:id="rId4"/>
  </p:notesMasterIdLst>
  <p:sldIdLst>
    <p:sldId id="257" r:id="rId2"/>
    <p:sldId id="260" r:id="rId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1" d="100"/>
          <a:sy n="161" d="100"/>
        </p:scale>
        <p:origin x="174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600323968e_6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600323968e_6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600323968e_6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600323968e_6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6996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32"/>
          <p:cNvGrpSpPr/>
          <p:nvPr/>
        </p:nvGrpSpPr>
        <p:grpSpPr>
          <a:xfrm>
            <a:off x="65307" y="47902"/>
            <a:ext cx="9070848" cy="5001768"/>
            <a:chOff x="27432" y="73152"/>
            <a:chExt cx="9070848" cy="5001768"/>
          </a:xfrm>
        </p:grpSpPr>
        <p:sp>
          <p:nvSpPr>
            <p:cNvPr id="145" name="Google Shape;145;p32"/>
            <p:cNvSpPr/>
            <p:nvPr/>
          </p:nvSpPr>
          <p:spPr>
            <a:xfrm>
              <a:off x="27432" y="73152"/>
              <a:ext cx="3611880" cy="50292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lang="pt-BR" sz="1000" b="1" i="0" u="none" strike="noStrike" cap="none" dirty="0">
                  <a:solidFill>
                    <a:srgbClr val="1E4E79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1. ACOMPANHAMENTO - RESPONSÁVEL</a:t>
              </a:r>
              <a:endParaRPr dirty="0">
                <a:highlight>
                  <a:srgbClr val="FFFFFF"/>
                </a:highlight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700"/>
                <a:buFont typeface="Arial"/>
                <a:buNone/>
              </a:pPr>
              <a:r>
                <a:rPr lang="pt-BR" sz="700" i="1" dirty="0">
                  <a:solidFill>
                    <a:schemeClr val="dk1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DD/MM/AAAA - DD/MM/AAAA</a:t>
              </a:r>
              <a:endParaRPr dirty="0"/>
            </a:p>
          </p:txBody>
        </p:sp>
        <p:sp>
          <p:nvSpPr>
            <p:cNvPr id="146" name="Google Shape;146;p32"/>
            <p:cNvSpPr/>
            <p:nvPr/>
          </p:nvSpPr>
          <p:spPr>
            <a:xfrm>
              <a:off x="27432" y="621792"/>
              <a:ext cx="3611880" cy="896112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0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endParaRPr sz="200" b="1" i="0" u="none" strike="noStrike" cap="none" dirty="0">
                <a:solidFill>
                  <a:srgbClr val="1E4E79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pt-BR" sz="900" b="1" i="0" u="none" strike="noStrike" cap="none" dirty="0">
                  <a:solidFill>
                    <a:srgbClr val="1E4E79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OBJETIVO</a:t>
              </a:r>
              <a:r>
                <a:rPr lang="pt-BR" sz="900" b="0" i="0" u="none" strike="noStrike" cap="none" dirty="0">
                  <a:solidFill>
                    <a:srgbClr val="000000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 |  </a:t>
              </a:r>
              <a:r>
                <a:rPr lang="en-US" sz="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Responde: 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para que serve este ciclo.</a:t>
              </a:r>
            </a:p>
            <a:p>
              <a: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</a:pP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Definido no início do ciclo e inalterado nos seis slides semanais. Uma frase: um resultado com condição verificável, não uma atividade.</a:t>
              </a:r>
            </a:p>
            <a:p>
              <a:pPr marL="171450" marR="0" lvl="0" indent="-171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 panose="020B0604020202020204" pitchFamily="34" charset="0"/>
                <a:buChar char="•"/>
              </a:pPr>
              <a:r>
                <a:rPr lang="en-US" sz="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Entregar um modelo em regime permanente da bomba de calor comercial que reproduza o COP medido com desvio de ±10% na faixa de temperatura de fonte quente de 60 a 95 °C.</a:t>
              </a:r>
              <a:endParaRPr sz="800" i="1" dirty="0">
                <a:solidFill>
                  <a:schemeClr val="dk1"/>
                </a:solidFill>
                <a:highlight>
                  <a:schemeClr val="lt1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800" b="0" i="0" u="none" strike="noStrike" cap="none" dirty="0">
                  <a:solidFill>
                    <a:schemeClr val="dk1"/>
                  </a:solidFill>
                  <a:highlight>
                    <a:schemeClr val="lt1"/>
                  </a:highlight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endParaRPr sz="800" b="0" i="0" u="none" strike="noStrike" cap="none" dirty="0">
                <a:solidFill>
                  <a:schemeClr val="dk1"/>
                </a:solidFill>
                <a:highlight>
                  <a:schemeClr val="lt1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148" name="Google Shape;148;p32"/>
            <p:cNvSpPr/>
            <p:nvPr/>
          </p:nvSpPr>
          <p:spPr>
            <a:xfrm>
              <a:off x="3730752" y="73152"/>
              <a:ext cx="5367528" cy="5001768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pt-BR" sz="900" b="1" i="0" u="none" strike="noStrike" cap="none" dirty="0">
                  <a:solidFill>
                    <a:srgbClr val="1E4E79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RESULTADOS</a:t>
              </a:r>
              <a:r>
                <a:rPr lang="pt-BR" sz="900" b="0" i="0" u="none" strike="noStrike" cap="none" dirty="0">
                  <a:solidFill>
                    <a:srgbClr val="000000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 | </a:t>
              </a:r>
              <a:r>
                <a:rPr lang="en-US" sz="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Responde: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o que sabemos agora que não sabíamos na semana passada.</a:t>
              </a:r>
              <a:endParaRPr sz="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highlight>
                  <a:srgbClr val="FFFFFF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Evidência, não atividade. Dados, não narrativa</a:t>
              </a:r>
              <a:r>
                <a:rPr lang="en-US" sz="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Figuras, tabelas e frases dizendo o que elas mostram. </a:t>
              </a:r>
              <a:endParaRPr sz="800" dirty="0">
                <a:highlight>
                  <a:srgbClr val="FFFFFF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dirty="0"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228600" marR="0" lvl="0" indent="-171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49" name="Google Shape;149;p32"/>
            <p:cNvSpPr/>
            <p:nvPr/>
          </p:nvSpPr>
          <p:spPr>
            <a:xfrm>
              <a:off x="27432" y="3749040"/>
              <a:ext cx="3611880" cy="132588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0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endParaRPr sz="200" b="1" i="0" u="none" strike="noStrike" cap="none" dirty="0">
                <a:solidFill>
                  <a:srgbClr val="1E4E79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pt-BR" sz="900" b="1" i="0" u="none" strike="noStrike" cap="none" dirty="0">
                  <a:solidFill>
                    <a:srgbClr val="1E4E79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PRÓXIMOS PASSOS</a:t>
              </a:r>
              <a:r>
                <a:rPr lang="pt-BR" sz="900" b="0" i="0" u="none" strike="noStrike" cap="none" dirty="0">
                  <a:solidFill>
                    <a:srgbClr val="000000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| </a:t>
              </a:r>
              <a:r>
                <a:rPr lang="en-US" sz="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Responde: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o que será verdade na próxima reunião.</a:t>
              </a:r>
              <a:endParaRPr lang="en-US" sz="800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  <a:sym typeface="Times New Roman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lang="en-US" sz="8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Antes da reunião, o responsável redige </a:t>
              </a:r>
              <a:r>
                <a:rPr lang="en-US" sz="8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os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passos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r>
                <a:rPr lang="en-US" sz="8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Após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a reunião, as contribuições da equipe são acrescentadas. </a:t>
              </a:r>
              <a:endParaRPr sz="8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150" name="Google Shape;150;p32"/>
            <p:cNvSpPr/>
            <p:nvPr/>
          </p:nvSpPr>
          <p:spPr>
            <a:xfrm>
              <a:off x="27432" y="1563624"/>
              <a:ext cx="3611880" cy="2139695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0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endParaRPr sz="200" b="1" i="0" u="none" strike="noStrike" cap="none" dirty="0">
                <a:solidFill>
                  <a:srgbClr val="1E4E79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pt-BR" sz="900" b="1" i="0" u="none" strike="noStrike" cap="none" dirty="0">
                  <a:solidFill>
                    <a:srgbClr val="1E4E79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ATIVIDADES</a:t>
              </a:r>
              <a:r>
                <a:rPr lang="pt-BR" sz="900" b="0" i="0" u="none" strike="noStrike" cap="none" dirty="0">
                  <a:solidFill>
                    <a:srgbClr val="000000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| </a:t>
              </a:r>
              <a:r>
                <a:rPr lang="en-US" sz="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Responde: 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 que foi acordado fazer e em que </a:t>
              </a:r>
              <a:r>
                <a:rPr lang="en-US" sz="8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estágio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está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lang="en-US" sz="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Lista definida no início do ciclo, de três a seis itens. Cada item: verbo no infinitivo (Comissionar, Validar, Ajustar, Medir, Decidir, Documentar) e data-alvo de conclusão. Categorias: concluída (cinza-claro tachado), em andamento (preto) e planejada (cinza-claro). Se a data escorregar, manter a original entre parênteses: — 03/10 (alvo 19/09).</a:t>
              </a: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lang="en-US" sz="80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228600" marR="0" lvl="0" indent="-2286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+mj-lt"/>
                <a:buAutoNum type="arabicPeriod"/>
              </a:pPr>
              <a:r>
                <a:rPr lang="en-US" sz="800" i="1" strike="sngStrike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Ajustar o mapa de desempenho do compressor aos dados do fabricante — 05/09</a:t>
              </a:r>
            </a:p>
            <a:p>
              <a:pPr marL="228600" marR="0" lvl="0" indent="-2286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+mj-lt"/>
                <a:buAutoNum type="arabicPeriod"/>
              </a:pPr>
              <a:r>
                <a:rPr lang="en-US" sz="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Comissionar a bomba de calor no reator DAC 15TA — 19/09</a:t>
              </a:r>
            </a:p>
            <a:p>
              <a:pPr marL="228600" marR="0" lvl="0" indent="-2286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+mj-lt"/>
                <a:buAutoNum type="arabicPeriod"/>
              </a:pPr>
              <a:r>
                <a:rPr lang="en-US" sz="800" i="1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Validar o modelo em regime permanente com os ensaios de 60–80 °C — 03/10</a:t>
              </a:r>
              <a:endParaRPr sz="800" i="1" u="none" strike="noStrike" cap="none" dirty="0">
                <a:solidFill>
                  <a:schemeClr val="bg1">
                    <a:lumMod val="50000"/>
                  </a:schemeClr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marR="0" lvl="0" indent="-285750" algn="just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Font typeface="Times New Roman"/>
                <a:buAutoNum type="arabicPeriod"/>
              </a:pPr>
              <a:endParaRPr sz="900" dirty="0">
                <a:solidFill>
                  <a:schemeClr val="dk1"/>
                </a:solidFill>
                <a:highlight>
                  <a:schemeClr val="lt1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457200" marR="0" lvl="0" indent="0" algn="just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dirty="0">
                <a:solidFill>
                  <a:schemeClr val="dk1"/>
                </a:solidFill>
                <a:highlight>
                  <a:schemeClr val="lt1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9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pic>
        <p:nvPicPr>
          <p:cNvPr id="153" name="Google Shape;153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659" y="71051"/>
            <a:ext cx="607416" cy="3592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32"/>
          <p:cNvGrpSpPr/>
          <p:nvPr/>
        </p:nvGrpSpPr>
        <p:grpSpPr>
          <a:xfrm>
            <a:off x="65307" y="47902"/>
            <a:ext cx="9070848" cy="5001768"/>
            <a:chOff x="27432" y="73152"/>
            <a:chExt cx="9070848" cy="5001768"/>
          </a:xfrm>
        </p:grpSpPr>
        <p:sp>
          <p:nvSpPr>
            <p:cNvPr id="145" name="Google Shape;145;p32"/>
            <p:cNvSpPr/>
            <p:nvPr/>
          </p:nvSpPr>
          <p:spPr>
            <a:xfrm>
              <a:off x="27432" y="73152"/>
              <a:ext cx="3611880" cy="50292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lang="pt-BR" sz="1000" b="1" i="0" u="none" strike="noStrike" cap="none" dirty="0">
                  <a:solidFill>
                    <a:srgbClr val="1E4E79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1. ACOMPANHAMENTO - RESPONSÁVEL</a:t>
              </a:r>
              <a:endParaRPr dirty="0">
                <a:highlight>
                  <a:srgbClr val="FFFFFF"/>
                </a:highlight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700"/>
                <a:buFont typeface="Arial"/>
                <a:buNone/>
              </a:pPr>
              <a:r>
                <a:rPr lang="pt-BR" sz="700" i="1" dirty="0">
                  <a:solidFill>
                    <a:schemeClr val="dk1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DD/MM/AAAA - DD/MM/AAAA</a:t>
              </a:r>
              <a:endParaRPr dirty="0"/>
            </a:p>
          </p:txBody>
        </p:sp>
        <p:sp>
          <p:nvSpPr>
            <p:cNvPr id="146" name="Google Shape;146;p32"/>
            <p:cNvSpPr/>
            <p:nvPr/>
          </p:nvSpPr>
          <p:spPr>
            <a:xfrm>
              <a:off x="27432" y="621792"/>
              <a:ext cx="3611880" cy="896112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0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endParaRPr sz="200" b="1" i="0" u="none" strike="noStrike" cap="none" dirty="0">
                <a:solidFill>
                  <a:srgbClr val="1E4E79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pt-BR" sz="900" b="1" i="0" u="none" strike="noStrike" cap="none" dirty="0">
                  <a:solidFill>
                    <a:srgbClr val="1E4E79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OBJETIVO</a:t>
              </a:r>
              <a:r>
                <a:rPr lang="pt-BR" sz="900" b="0" i="0" u="none" strike="noStrike" cap="none" dirty="0">
                  <a:solidFill>
                    <a:srgbClr val="000000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 |  </a:t>
              </a:r>
              <a:r>
                <a:rPr lang="en-US" sz="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Responde: 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para que serve este ciclo.</a:t>
              </a:r>
            </a:p>
            <a:p>
              <a:pPr marL="4572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800" b="0" i="0" u="none" strike="noStrike" cap="none" dirty="0">
                  <a:solidFill>
                    <a:schemeClr val="dk1"/>
                  </a:solidFill>
                  <a:highlight>
                    <a:schemeClr val="lt1"/>
                  </a:highlight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 </a:t>
              </a:r>
              <a:endParaRPr sz="800" b="0" i="0" u="none" strike="noStrike" cap="none" dirty="0">
                <a:solidFill>
                  <a:schemeClr val="dk1"/>
                </a:solidFill>
                <a:highlight>
                  <a:schemeClr val="lt1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148" name="Google Shape;148;p32"/>
            <p:cNvSpPr/>
            <p:nvPr/>
          </p:nvSpPr>
          <p:spPr>
            <a:xfrm>
              <a:off x="3730752" y="73152"/>
              <a:ext cx="5367528" cy="5001768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pt-BR" sz="900" b="1" i="0" u="none" strike="noStrike" cap="none" dirty="0">
                  <a:solidFill>
                    <a:srgbClr val="1E4E79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RESULTADOS</a:t>
              </a:r>
              <a:r>
                <a:rPr lang="pt-BR" sz="900" b="0" i="0" u="none" strike="noStrike" cap="none" dirty="0">
                  <a:solidFill>
                    <a:srgbClr val="000000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 | </a:t>
              </a:r>
              <a:r>
                <a:rPr lang="en-US" sz="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Responde: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o que sabemos agora que não sabíamos na semana passada.</a:t>
              </a:r>
              <a:endParaRPr sz="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highlight>
                  <a:srgbClr val="FFFFFF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Evidência, não atividade. Dados, não narrativa</a:t>
              </a:r>
              <a:r>
                <a:rPr lang="en-US" sz="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Figuras, tabelas e frases dizendo o que elas mostram. </a:t>
              </a:r>
              <a:endParaRPr sz="800" dirty="0">
                <a:highlight>
                  <a:srgbClr val="FFFFFF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  <a:p>
              <a:pPr marL="4572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dirty="0"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228600" marR="0" lvl="0" indent="-171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49" name="Google Shape;149;p32"/>
            <p:cNvSpPr/>
            <p:nvPr/>
          </p:nvSpPr>
          <p:spPr>
            <a:xfrm>
              <a:off x="27432" y="3749040"/>
              <a:ext cx="3611880" cy="132588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0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endParaRPr sz="200" b="1" i="0" u="none" strike="noStrike" cap="none" dirty="0">
                <a:solidFill>
                  <a:srgbClr val="1E4E79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pt-BR" sz="900" b="1" i="0" u="none" strike="noStrike" cap="none" dirty="0">
                  <a:solidFill>
                    <a:srgbClr val="1E4E79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PRÓXIMOS PASSOS</a:t>
              </a:r>
              <a:r>
                <a:rPr lang="pt-BR" sz="900" b="0" i="0" u="none" strike="noStrike" cap="none" dirty="0">
                  <a:solidFill>
                    <a:srgbClr val="000000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| </a:t>
              </a:r>
              <a:r>
                <a:rPr lang="en-US" sz="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Responde: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o que será verdade na próxima reunião.</a:t>
              </a:r>
              <a:endParaRPr lang="en-US" sz="800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  <a:sym typeface="Times New Roman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lang="en-US" sz="8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endParaRPr>
            </a:p>
          </p:txBody>
        </p:sp>
        <p:sp>
          <p:nvSpPr>
            <p:cNvPr id="150" name="Google Shape;150;p32"/>
            <p:cNvSpPr/>
            <p:nvPr/>
          </p:nvSpPr>
          <p:spPr>
            <a:xfrm>
              <a:off x="27432" y="1563624"/>
              <a:ext cx="3611880" cy="2139695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0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endParaRPr sz="200" b="1" i="0" u="none" strike="noStrike" cap="none" dirty="0">
                <a:solidFill>
                  <a:srgbClr val="1E4E79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pt-BR" sz="900" b="1" i="0" u="none" strike="noStrike" cap="none" dirty="0">
                  <a:solidFill>
                    <a:srgbClr val="1E4E79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ATIVIDADES</a:t>
              </a:r>
              <a:r>
                <a:rPr lang="pt-BR" sz="900" b="0" i="0" u="none" strike="noStrike" cap="none" dirty="0">
                  <a:solidFill>
                    <a:srgbClr val="000000"/>
                  </a:solidFill>
                  <a:highlight>
                    <a:srgbClr val="FFFFFF"/>
                  </a:highlight>
                  <a:latin typeface="Times New Roman"/>
                  <a:ea typeface="Times New Roman"/>
                  <a:cs typeface="Times New Roman"/>
                  <a:sym typeface="Times New Roman"/>
                </a:rPr>
                <a:t>| </a:t>
              </a:r>
              <a:r>
                <a:rPr lang="en-US" sz="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Responde: 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 que foi acordado fazer e em que </a:t>
              </a:r>
              <a:r>
                <a:rPr lang="en-US" sz="8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estágio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está</a:t>
              </a:r>
              <a:r>
                <a:rPr 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lang="en-US" sz="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457200" marR="0" lvl="0" indent="-285750" algn="just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Font typeface="Times New Roman"/>
                <a:buAutoNum type="arabicPeriod"/>
              </a:pPr>
              <a:endParaRPr sz="900" dirty="0">
                <a:solidFill>
                  <a:schemeClr val="dk1"/>
                </a:solidFill>
                <a:highlight>
                  <a:schemeClr val="lt1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457200" marR="0" lvl="0" indent="0" algn="just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dirty="0">
                <a:solidFill>
                  <a:schemeClr val="dk1"/>
                </a:solidFill>
                <a:highlight>
                  <a:schemeClr val="lt1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900" b="0" i="0" u="none" strike="noStrike" cap="none" dirty="0">
                <a:solidFill>
                  <a:srgbClr val="000000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pic>
        <p:nvPicPr>
          <p:cNvPr id="153" name="Google Shape;153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659" y="71051"/>
            <a:ext cx="607416" cy="35925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6172763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374</Words>
  <Application>Microsoft Office PowerPoint</Application>
  <PresentationFormat>On-screen Show (16:9)</PresentationFormat>
  <Paragraphs>37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Times New Roman</vt:lpstr>
      <vt:lpstr>Simple Light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Guilherme</dc:creator>
  <cp:lastModifiedBy>guilherme</cp:lastModifiedBy>
  <cp:revision>7</cp:revision>
  <dcterms:modified xsi:type="dcterms:W3CDTF">2026-07-24T16:14:00Z</dcterms:modified>
</cp:coreProperties>
</file>